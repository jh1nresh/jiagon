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27c58b677d4918" /><Relationship Type="http://schemas.openxmlformats.org/officeDocument/2006/relationships/extended-properties" Target="/docProps/app.xml" Id="R6c89055b5ddb4394" /><Relationship Type="http://schemas.openxmlformats.org/officeDocument/2006/relationships/officeDocument" Target="/ppt/presentation.xml" Id="Re032008760f0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cb004503c48f2"/>
  </p:sldMasterIdLst>
  <p:notesMasterIdLst>
    <p:notesMasterId xmlns:r="http://schemas.openxmlformats.org/officeDocument/2006/relationships" r:id="Rf5c3b9fe09024ab4"/>
  </p:notesMasterIdLst>
  <p:sldIdLst>
    <p:sldId xmlns:r="http://schemas.openxmlformats.org/officeDocument/2006/relationships" id="256" r:id="R52643f453d6141d4"/>
    <p:sldId xmlns:r="http://schemas.openxmlformats.org/officeDocument/2006/relationships" id="257" r:id="Rfdd0f9ed94784952"/>
    <p:sldId xmlns:r="http://schemas.openxmlformats.org/officeDocument/2006/relationships" id="258" r:id="Rd0de54d4fe2d43c8"/>
    <p:sldId xmlns:r="http://schemas.openxmlformats.org/officeDocument/2006/relationships" id="259" r:id="Re8a31a928497463b"/>
    <p:sldId xmlns:r="http://schemas.openxmlformats.org/officeDocument/2006/relationships" id="260" r:id="R791c43b44ec0438e"/>
    <p:sldId xmlns:r="http://schemas.openxmlformats.org/officeDocument/2006/relationships" id="261" r:id="R9010215e3ae44813"/>
    <p:sldId xmlns:r="http://schemas.openxmlformats.org/officeDocument/2006/relationships" id="262" r:id="R2f5c08700ffc45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cb004503c48f2" /><Relationship Type="http://schemas.openxmlformats.org/officeDocument/2006/relationships/theme" Target="/ppt/theme/theme1.xml" Id="R7f90ddf7d6964fb6" /><Relationship Type="http://schemas.openxmlformats.org/officeDocument/2006/relationships/notesMaster" Target="/ppt/notesMasters/notesMaster1.xml" Id="Rf5c3b9fe09024ab4" /><Relationship Type="http://schemas.openxmlformats.org/officeDocument/2006/relationships/presProps" Target="/ppt/presProps.xml" Id="Rf044d2bf8ae94479" /><Relationship Type="http://schemas.openxmlformats.org/officeDocument/2006/relationships/viewProps" Target="/ppt/viewProps.xml" Id="R69d0aee778ad4768" /><Relationship Type="http://schemas.openxmlformats.org/officeDocument/2006/relationships/tableStyles" Target="/ppt/tableStyles.xml" Id="R7e4a31623a7146e3" /><Relationship Type="http://schemas.openxmlformats.org/officeDocument/2006/relationships/slide" Target="/ppt/slides/slide1.xml" Id="R52643f453d6141d4" /><Relationship Type="http://schemas.openxmlformats.org/officeDocument/2006/relationships/slide" Target="/ppt/slides/slide2.xml" Id="Rfdd0f9ed94784952" /><Relationship Type="http://schemas.openxmlformats.org/officeDocument/2006/relationships/slide" Target="/ppt/slides/slide3.xml" Id="Rd0de54d4fe2d43c8" /><Relationship Type="http://schemas.openxmlformats.org/officeDocument/2006/relationships/slide" Target="/ppt/slides/slide4.xml" Id="Re8a31a928497463b" /><Relationship Type="http://schemas.openxmlformats.org/officeDocument/2006/relationships/slide" Target="/ppt/slides/slide5.xml" Id="R791c43b44ec0438e" /><Relationship Type="http://schemas.openxmlformats.org/officeDocument/2006/relationships/slide" Target="/ppt/slides/slide6.xml" Id="R9010215e3ae44813" /><Relationship Type="http://schemas.openxmlformats.org/officeDocument/2006/relationships/slide" Target="/ppt/slides/slide7.xml" Id="R2f5c08700ffc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28701f37ee8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a70961ec74167" /><Relationship Type="http://schemas.openxmlformats.org/officeDocument/2006/relationships/notesMaster" Target="/ppt/notesMasters/notesMaster1.xml" Id="Rda92d90f25844b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67a53c1af4048" /><Relationship Type="http://schemas.openxmlformats.org/officeDocument/2006/relationships/notesMaster" Target="/ppt/notesMasters/notesMaster1.xml" Id="Reb42be83294f40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a50fef7b34eaf" /><Relationship Type="http://schemas.openxmlformats.org/officeDocument/2006/relationships/notesMaster" Target="/ppt/notesMasters/notesMaster1.xml" Id="R83cb58f58b1d44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0a0d291d784809" /><Relationship Type="http://schemas.openxmlformats.org/officeDocument/2006/relationships/notesMaster" Target="/ppt/notesMasters/notesMaster1.xml" Id="R47307d75e88a4d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036145804d480d" /><Relationship Type="http://schemas.openxmlformats.org/officeDocument/2006/relationships/notesMaster" Target="/ppt/notesMasters/notesMaster1.xml" Id="Rd496536f311e45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d921ea5f9b470b" /><Relationship Type="http://schemas.openxmlformats.org/officeDocument/2006/relationships/notesMaster" Target="/ppt/notesMasters/notesMaster1.xml" Id="Rfb637bee4c444c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ccf580d3344a7e" /><Relationship Type="http://schemas.openxmlformats.org/officeDocument/2006/relationships/notesMaster" Target="/ppt/notesMasters/notesMaster1.xml" Id="R425df335c8e948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84d4e3f344c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35cbe8788354e70" /><Relationship Type="http://schemas.openxmlformats.org/officeDocument/2006/relationships/slideLayout" Target="/ppt/slideLayouts/slideLayout2.xml" Id="R694e05a3dcd141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e05a3dcd141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dd3143a18420b" /><Relationship Type="http://schemas.openxmlformats.org/officeDocument/2006/relationships/image" Target="/ppt/media/image.png" Id="R67ca66dce31d4c4a" /><Relationship Type="http://schemas.openxmlformats.org/officeDocument/2006/relationships/notesSlide" Target="/ppt/notesSlides/notesSlide1.xml" Id="R32a2e2d1a207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51130801d34086" /><Relationship Type="http://schemas.openxmlformats.org/officeDocument/2006/relationships/notesSlide" Target="/ppt/notesSlides/notesSlide2.xml" Id="R0fdc03e288b7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9cef0449da489a" /><Relationship Type="http://schemas.openxmlformats.org/officeDocument/2006/relationships/notesSlide" Target="/ppt/notesSlides/notesSlide3.xml" Id="R39205f1fba9b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65ec64735d4530" /><Relationship Type="http://schemas.openxmlformats.org/officeDocument/2006/relationships/notesSlide" Target="/ppt/notesSlides/notesSlide4.xml" Id="R37c75543a87c4a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cecf79ed744c25" /><Relationship Type="http://schemas.openxmlformats.org/officeDocument/2006/relationships/notesSlide" Target="/ppt/notesSlides/notesSlide5.xml" Id="R8ee42b36642b41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1d3e22f9ec4de3" /><Relationship Type="http://schemas.openxmlformats.org/officeDocument/2006/relationships/notesSlide" Target="/ppt/notesSlides/notesSlide6.xml" Id="R5d7faaa81e1248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e365bf1d340d8" /><Relationship Type="http://schemas.openxmlformats.org/officeDocument/2006/relationships/notesSlide" Target="/ppt/notesSlides/notesSlide7.xml" Id="Re63664afa2e74b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800DF-921D-4E7E-A7A6-A6DC50D8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a66dce31d4c4a"/>
          <a:stretch xmlns:a="http://schemas.openxmlformats.org/drawingml/2006/main"/>
        </p:blipFill>
        <p:spPr>
          <a:xfrm xmlns:a="http://schemas.openxmlformats.org/drawingml/2006/main">
            <a:off x="639178" y="552450"/>
            <a:ext cx="779045" cy="800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9251D-D5C3-4A7C-8CF6-1C2B388F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667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rPr>
              <a:t>Jiagon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129B0-57A3-497D-86DF-D2C3A2C0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0858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5C42"/>
                </a:solidFill>
                <a:latin typeface="Aptos"/>
                <a:ea typeface="Aptos"/>
                <a:cs typeface="Aptos"/>
              </a:rPr>
              <a:t>Personal agent commerce rail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7EBCB-1655-4D03-B59C-4500362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8191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rPr>
              <a:t>Agents should be able to buy real coffee, receive verified receipts, and build purpose-bound credit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12C08-3B25-4942-9820-50C12C5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Demo: personal agent order -&gt; wallet-approved payment -&gt; merchant fulfillment -&gt; Solana receipt memory -&gt; future dining deposit credit.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45D7E-054B-4EAF-B04E-743D15E5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1BB04-9576-4E8E-A6E1-95204628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Solana receipts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0EEEF-CED7-412F-BFBC-90DBABD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958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C8BF9-297E-478B-AE94-DE0DCC8C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625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6D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6DFF"/>
                </a:solidFill>
                <a:latin typeface="Aptos"/>
                <a:ea typeface="Aptos"/>
                <a:cs typeface="Aptos"/>
              </a:rPr>
              <a:t>Agent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FE38C-59B7-4254-9A47-A940A5AD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958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8D024-54D2-482E-9C11-EE72AC1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625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4E1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4E10"/>
                </a:solidFill>
                <a:latin typeface="Aptos"/>
                <a:ea typeface="Aptos"/>
                <a:cs typeface="Aptos"/>
              </a:rPr>
              <a:t>Purpose credit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6C4B0-F128-4113-8819-65D86EE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47750"/>
            <a:ext cx="2457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D5048-B452-435C-B1D2-EBA354C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Tomorrow's live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82984-A657-43E2-8D6C-F92076B9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85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5714A-C26A-4123-A411-0FD2EF5D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DBE97-1929-4613-B795-F58B6BC0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145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Ask agent for coffee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0EDC6-811A-49D9-9F4F-363229F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D793B-F477-4DC8-A8EF-580109F3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9A999-2F19-4BD3-BF4F-AAF292A8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241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Approve Solana 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C28D4-EC72-473A-9AB5-070D8817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913A9-2D83-45F5-B45F-886A0B8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80106-AC53-4CD4-ADE4-C648C9E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Merchant fulfills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59770-E461-498C-89C1-67A1720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0E25F-D5C2-4EAF-9B04-747D94B3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719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94CAD-72E7-49E3-A30D-5715DCD9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433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Claim receipt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A7B204-7699-4C1A-93D8-C280578B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24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CF903-5117-48C4-AECD-2CFB45B7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86EDD-67C4-45A9-A0E3-9213EC72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529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Credit memory unlocks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D12E92-45C7-4CF2-96FF-9CB82A60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Jiagon 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2CFA4-99A4-489D-B38A-EDE193F1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05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67121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F2BBE-B81D-4496-B25F-68029ED3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F1C10-82B9-4608-90F5-C5FA8D3A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4F333-C6BB-41DF-ACB8-8D82EF9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rPr>
              <a:t>Agents can recommend places, but they cannot reliably complete and remember real-world purchases.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4EC31-57CC-4C79-82EA-6999F1EF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The missing layer is not another chatbot. It is order execution, merchant proof, and reusable purchase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F81C9-0B1B-47C8-AB7A-4B582E5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FBA17-D1D1-40FD-BEDA-8A480D50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31155-B605-43FA-9ACC-52D4718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Most agent demos stop at intent or recommendation.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0B475-95B6-4DED-8EEF-B96E73F6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01623-EB68-486A-A523-83E5C5AE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CFB9E-A578-4F57-B714-934AB4B6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The user still has to manually bridge checkout and approval.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E8C82-D3CE-48F1-948B-5209D879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3BACC-AE0A-45D7-9DEA-DA19F28C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18A48-4C2B-445B-8231-6A1C6D48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A receipt is usually trapped in paper, email, or a POS silo.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CAB25-7661-4453-A383-B7A57B10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46938-8C52-4DB9-8914-6ADE8C89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76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Credit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750B8-48A8-4AFA-B81D-E4890058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Future underwriting cannot use verified spending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B7DDA-48F1-46A8-8A2B-2931CE46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DFEC7-066C-4040-B780-377F0DA8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05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32761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4B2DF-BDAF-4575-A4FF-3FAFE27F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750B2-839B-45F2-AF03-AAB8B16E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42497-4145-4703-868F-2977289D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rPr>
              <a:t>Jiagon is the commerce rail between a personal agent and a real merchant.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1BE05-454F-46C7-934E-7DF546D1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One order becomes a payment request, a fulfillment record, a receipt, and future credit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6ADC3-051F-421E-A64A-79449896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733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BAE83-3C2A-4CEE-BD56-4A762D4D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39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Agent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1ECC1-B782-48A8-B7AE-5B70E3E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Natural language or structured API 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64F1F-A46A-4514-8B8E-6FB27508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33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557CA-B3A8-477F-B81D-0D1A8F25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90900"/>
            <a:ext cx="139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Payment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F7ACC-B2A6-48CF-9FC4-E281BAF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290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External wallet approval through Solana Pay or Helio.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982B-EB3D-4547-8D4E-8DC55A2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38500"/>
            <a:ext cx="1733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B8BBB-C9E9-4681-A05E-FA386FB9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39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Merchant fulfills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49A42-87A1-4674-9F12-0C6CA497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90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Staff marks the order completed.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B3C06-5DB8-409A-A98F-8FE77715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1733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CE948-B4DF-490A-AFD5-A3A14F1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90900"/>
            <a:ext cx="139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Receipt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BF78A-9941-4E4D-9A5B-7F8F0EF3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Claimed to passport and optionally minted.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F8A95-D505-46F7-835B-28F4103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1733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08546-BA5F-4006-B3E0-E37B6E2D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139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Purpose credit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BCE97-7C3D-43CD-8E09-E7925EB4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Future dining deposit, not open cash.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1F963-B07C-42DD-B114-C421A26E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100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144E0-351B-4750-8E02-B7A4BB41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1E187-499A-4104-A246-C2D4D84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EAD30-9D8B-46DA-89CA-CB809972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00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15AD3-32A9-4295-B95A-46ADB61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435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The merchant does not replace its POS. Jiagon sits beside it as the agent-callable proof and receipt layer.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4015E-D91B-438B-A0B2-5BCC14A1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DB82D-BF19-419B-BD37-D932C2F7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05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6436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5F43F-DDCA-4C91-88D6-C9BE28FD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A9B8B-7835-41EC-ABB9-9994E69A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E6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E66D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693BA-2C8E-413D-B4EE-13855B1E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Raposa Coffee: personal agent buys coffee and receives receipt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875B0-4D27-49A6-8A8E-8E40D39A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F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F3EB"/>
                </a:solidFill>
                <a:latin typeface="Aptos"/>
                <a:ea typeface="Aptos"/>
                <a:cs typeface="Aptos"/>
              </a:rPr>
              <a:t>A five-step flow that turns intent into a verified purchase memory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9CF64-1678-4492-BDFF-B0900D00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72BA3-B40E-4C59-9BF0-DFC7B5D1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B39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1696A-7FC8-48BC-9AD5-3D1EF078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/agent-order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4802C-95A0-45CA-9D82-B694A89B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6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F6EF"/>
                </a:solidFill>
                <a:latin typeface="Aptos"/>
                <a:ea typeface="Aptos"/>
                <a:cs typeface="Aptos"/>
              </a:rPr>
              <a:t>User asks: get me a coffee under $10.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FAD7B-E7D0-4946-B37C-E793241F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F27A3-C2BC-4671-8145-59A5B7AA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9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AAF0E-AFF8-45EB-9113-6821C8D2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Wallet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80769-79A1-4E57-8FD3-CA53DDC7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6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F6EF"/>
                </a:solidFill>
                <a:latin typeface="Aptos"/>
                <a:ea typeface="Aptos"/>
                <a:cs typeface="Aptos"/>
              </a:rPr>
              <a:t>Agent opens external Solana payment request.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AA45C-A08A-4172-A0A0-5E4B2D5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5FDBB-8996-458F-B763-BE26F0B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B39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D1F7B-2176-4947-AA56-50B8F2C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/merchant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A192E-4CFF-4AA8-864F-86C2326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9525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6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F6EF"/>
                </a:solidFill>
                <a:latin typeface="Aptos"/>
                <a:ea typeface="Aptos"/>
                <a:cs typeface="Aptos"/>
              </a:rPr>
              <a:t>Raposa staff sees order and marks fulfilled.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7FC0A-8586-4B2A-B7F1-0DCE5277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CC210-A006-4655-BCA8-E18D760C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B39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534EF-2453-42FC-AC2C-13887150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/tile/raposa-coffee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CCF73-2C23-4944-881C-DB6EA10F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05325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6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F6EF"/>
                </a:solidFill>
                <a:latin typeface="Aptos"/>
                <a:ea typeface="Aptos"/>
                <a:cs typeface="Aptos"/>
              </a:rPr>
              <a:t>NFC station resolves pickup code to claim link.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6BC89-0EDE-4898-A0AF-359C14E2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6E66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E66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DC15D-51D9-42AE-8239-3B55A8B9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54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B39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9BE56-EC9D-4174-A961-AD1842F3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/passport + /credit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9C372-2C81-4309-8DA7-B389E1AE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91125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6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F6EF"/>
                </a:solidFill>
                <a:latin typeface="Aptos"/>
                <a:ea typeface="Aptos"/>
                <a:cs typeface="Aptos"/>
              </a:rPr>
              <a:t>Receipt becomes memory and unlocks purpose-bound credit.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72D0A-799A-4818-95DF-987E7F18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858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E5169-DCF7-4484-AD6A-532D18A7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144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E6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6E66D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AB6E4-0B16-41ED-97A9-F1C65B5D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00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one complete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66020-F79C-4771-BF8C-345D07EF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58697B-73F5-4CC2-AC32-F778F62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05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1048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2D0A9D-362E-44BE-AF6A-E1E583C8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E430D-39C9-4E51-91C7-690A9B6B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SOLANA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16354-7189-469A-8C26-FCF433D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rPr>
              <a:t>The receipt is the trust object, not just a payment receipt screenshot.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74D6F-7CCE-4A6D-B62C-5389B8C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Jiagon records proof levels so agents can reason about what is known and what is still a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9A987-115A-4718-856F-4099A98A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0C5C1-0987-4BD2-8EBF-378326F0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L0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72E87-06C3-42D7-B90C-78A981AE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861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order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229D1-DF6E-42A7-872B-034ADFD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95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Agent requested an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5F79-3513-45BC-BE24-AA829621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146F8-249F-4FBA-BF9F-1B095995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06454-86D9-400B-B3F2-F72B6F31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814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merchant completed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EA12B-06EF-4A1B-A216-01C0A0A0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90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Staff fulfilled the purchase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AF325-F6D1-4162-A262-D20A5F2A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7DB13-AA13-41EB-A21D-120CA672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7A84F-B55D-4075-B015-4FB7E429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767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passport claimed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BF90F-8FFC-4250-8F4C-C80DF794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User claimed via NFC /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9A337-DE83-41B4-BA78-ABF923E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B238D-5E18-41B3-8824-68473C3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5018B-9040-462D-B660-679E10BF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720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payment backed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C1DFE-7E58-4F24-A33E-D0B8A53D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815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Solana Pay / Helio / card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EB6D9-1CB6-4836-847E-9B96294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F3468-813C-4C2B-8006-252AF616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L5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C1F64-C8A3-45D9-8637-1302105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verified purchase 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AEF62-1CAC-4EEB-ABCB-C3BDE7A6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768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Payment + fulfillment + claim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383A3-2A1E-4175-83B6-92C56B67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2479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C83D9-6037-4517-ADA7-CAE4DAB8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 credential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BE942-184E-4A3C-A60B-491733E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3E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7F3EB"/>
                </a:solidFill>
                <a:latin typeface="Aptos"/>
                <a:ea typeface="Aptos"/>
                <a:cs typeface="Aptos"/>
              </a:rPr>
              <a:t>Bubblegum cNFT when env is configured; otherwise prepared proof payload.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0FF4FA-F2A3-4172-B723-99125028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Proof ladder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2E709-AF2F-438C-B60B-049E4CD7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05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50538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D380D7-D034-4EE3-A826-4D13BC63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3449D-AA56-4C71-8935-D85A766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CREDIT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ED339-9507-4B17-95EE-E73BE3FA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rPr>
              <a:t>Purpose-bound credit is the wedge: dining deposits, not open-ended borrowing.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837FD-D6EB-46F2-A372-83CA4237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Receipts prove repeated real-world purchase behavior. Credit can be constrained to a merchant, purpose, and amount.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B7B3B-FD7B-4369-8C1A-01A8B38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6DC2C-6257-427C-B1CD-B8405276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1811A-C9EA-4E5A-B01B-EB2F0586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209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Verified receipt memory: merchant, item, amount, proof level, claim identity.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3676-A68F-4387-BEBF-CAB434E1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9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1ADAC-3859-4A7A-B0FC-C2E2023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0B6BA-6F92-4E6A-8190-530E8294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90950"/>
            <a:ext cx="2209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Score unlocks a capped dining deposit line for an approved merchant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135DF-5384-4253-86AA-89A89DE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004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FF"/>
          </a:solidFill>
          <a:ln xmlns:a="http://schemas.openxmlformats.org/drawingml/2006/main" w="9525">
            <a:solidFill>
              <a:srgbClr val="D9D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52347-E3C7-45DD-872C-34C20242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3357D-D786-4BE3-84A0-48002CC0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90950"/>
            <a:ext cx="2209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Future agent can request a $10 deposit, not withdraw unrestricted cash.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DF3E1-F684-4D89-957A-C8E85656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3CD13-514D-497F-A622-50481B9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4FD77-E249-4319-9651-1CCD91C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2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26"/>
                </a:solidFill>
                <a:latin typeface="Aptos"/>
                <a:ea typeface="Aptos"/>
                <a:cs typeface="Aptos"/>
              </a:rPr>
              <a:t>This keeps the undercollateralized lending idea honest: smaller credit, clearer purpose, and a real purchase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AE98F-773D-45A8-936E-F7FFC0E9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Purpose-bound credit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D33AF-09E7-44D4-AD6C-BB0BD0A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05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71103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12CFD-9F80-4CBE-A826-B2FD775B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76250-F0F2-40E8-AF4A-F6C68DAA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C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C42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1C3F0-3ED6-4183-852B-D938537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226"/>
                </a:solidFill>
                <a:latin typeface="Aptos Display"/>
                <a:ea typeface="Aptos Display"/>
                <a:cs typeface="Aptos Display"/>
              </a:rPr>
              <a:t>Use the demo to prove one thing: agents can create verified purchase memory in the real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1EE95-D1CB-48FD-B104-E958C12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46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9463B"/>
                </a:solidFill>
                <a:latin typeface="Aptos"/>
                <a:ea typeface="Aptos"/>
                <a:cs typeface="Aptos"/>
              </a:rPr>
              <a:t>The pilot does not need to be a full POS. It needs to show a complete agent-to-merchant-to-credit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EF7C6-B941-4AB0-9827-01C8684D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5C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D5C42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F3FBA-107D-49D6-BEC6-34BC923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merchant pilot: Raposa Coffee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4B6F9-8467-459F-85C8-B805B3F9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76D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76D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E0B51-BAE5-4881-A779-3FB20B81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complete live purchase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704DA-14E0-47FB-88AA-F1CC6AC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9A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9A57"/>
                </a:solidFill>
                <a:latin typeface="Aptos Display"/>
                <a:ea typeface="Aptos Display"/>
                <a:cs typeface="Aptos Display"/>
              </a:rPr>
              <a:t>L3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C68F4-8EE1-437C-8003-FBCC0863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76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receipt memory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F38E3-F2D8-4279-BA74-5256E420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F5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5F59"/>
                </a:solidFill>
                <a:latin typeface="Aptos Display"/>
                <a:ea typeface="Aptos Display"/>
                <a:cs typeface="Aptos Display"/>
              </a:rPr>
              <a:t>L5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68B92-704B-4CA6-9DD0-1A94132D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payment-backed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39F79-921C-4F3B-BC52-A79AD81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5CFEA-8695-4238-AABD-6F24B807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811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Jiagon: personal agent commerce rail -&gt; verified receipt memory -&gt; purpose-bound dining credit.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84507-E122-4256-BEB2-8BF0C54B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E16DA-6F9A-4B59-9E54-9222B734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05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5917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2026-05-07T16:10:08.5720000Z</dcterms:created>
  <dcterms:modified xsi:type="dcterms:W3CDTF">2026-05-07T16:10:08.5720000Z</dcterms:modified>
</coreProperties>
</file>